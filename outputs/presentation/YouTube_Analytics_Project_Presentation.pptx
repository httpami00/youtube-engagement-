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be99ebe7b4035" /><Relationship Type="http://schemas.openxmlformats.org/officeDocument/2006/relationships/extended-properties" Target="/docProps/app.xml" Id="Rd0681bf636ff4a41" /><Relationship Type="http://schemas.openxmlformats.org/officeDocument/2006/relationships/officeDocument" Target="/ppt/presentation.xml" Id="Rcdd589ce00e14c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e6b6b84f14ea9"/>
  </p:sldMasterIdLst>
  <p:notesMasterIdLst>
    <p:notesMasterId xmlns:r="http://schemas.openxmlformats.org/officeDocument/2006/relationships" r:id="Rbd5bd2739aeb4964"/>
  </p:notesMasterIdLst>
  <p:sldIdLst>
    <p:sldId xmlns:r="http://schemas.openxmlformats.org/officeDocument/2006/relationships" id="256" r:id="Rdc74f2c554824edd"/>
    <p:sldId xmlns:r="http://schemas.openxmlformats.org/officeDocument/2006/relationships" id="257" r:id="R851c8293047f4b39"/>
    <p:sldId xmlns:r="http://schemas.openxmlformats.org/officeDocument/2006/relationships" id="258" r:id="Rd344e712c58f4ece"/>
    <p:sldId xmlns:r="http://schemas.openxmlformats.org/officeDocument/2006/relationships" id="259" r:id="R5f01902e45e64d27"/>
    <p:sldId xmlns:r="http://schemas.openxmlformats.org/officeDocument/2006/relationships" id="260" r:id="R265291c454e5482f"/>
    <p:sldId xmlns:r="http://schemas.openxmlformats.org/officeDocument/2006/relationships" id="261" r:id="Rb1520002474841d1"/>
    <p:sldId xmlns:r="http://schemas.openxmlformats.org/officeDocument/2006/relationships" id="262" r:id="Ra72c70303ed04404"/>
    <p:sldId xmlns:r="http://schemas.openxmlformats.org/officeDocument/2006/relationships" id="263" r:id="R8515fbebc248415a"/>
    <p:sldId xmlns:r="http://schemas.openxmlformats.org/officeDocument/2006/relationships" id="264" r:id="R6214cf41f0db4258"/>
    <p:sldId xmlns:r="http://schemas.openxmlformats.org/officeDocument/2006/relationships" id="265" r:id="R02c116b85b264194"/>
    <p:sldId xmlns:r="http://schemas.openxmlformats.org/officeDocument/2006/relationships" id="266" r:id="R0379e9b717b84d86"/>
    <p:sldId xmlns:r="http://schemas.openxmlformats.org/officeDocument/2006/relationships" id="267" r:id="R60e023d7ed9c44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76c7691f664a99" /><Relationship Type="http://schemas.openxmlformats.org/officeDocument/2006/relationships/slideMaster" Target="/ppt/slideMasters/slideMaster1.xml" Id="Rb6fe6b6b84f14ea9" /><Relationship Type="http://schemas.openxmlformats.org/officeDocument/2006/relationships/notesMaster" Target="/ppt/notesMasters/notesMaster1.xml" Id="Rbd5bd2739aeb4964" /><Relationship Type="http://schemas.openxmlformats.org/officeDocument/2006/relationships/presProps" Target="/ppt/presProps.xml" Id="R6e7ab1d379784b1f" /><Relationship Type="http://schemas.openxmlformats.org/officeDocument/2006/relationships/tableStyles" Target="/ppt/tableStyles.xml" Id="Rc65a7153e050438f" /><Relationship Type="http://schemas.openxmlformats.org/officeDocument/2006/relationships/slide" Target="/ppt/slides/slide1.xml" Id="Rdc74f2c554824edd" /><Relationship Type="http://schemas.openxmlformats.org/officeDocument/2006/relationships/slide" Target="/ppt/slides/slide2.xml" Id="R851c8293047f4b39" /><Relationship Type="http://schemas.openxmlformats.org/officeDocument/2006/relationships/slide" Target="/ppt/slides/slide3.xml" Id="Rd344e712c58f4ece" /><Relationship Type="http://schemas.openxmlformats.org/officeDocument/2006/relationships/slide" Target="/ppt/slides/slide4.xml" Id="R5f01902e45e64d27" /><Relationship Type="http://schemas.openxmlformats.org/officeDocument/2006/relationships/slide" Target="/ppt/slides/slide5.xml" Id="R265291c454e5482f" /><Relationship Type="http://schemas.openxmlformats.org/officeDocument/2006/relationships/slide" Target="/ppt/slides/slide6.xml" Id="Rb1520002474841d1" /><Relationship Type="http://schemas.openxmlformats.org/officeDocument/2006/relationships/slide" Target="/ppt/slides/slide7.xml" Id="Ra72c70303ed04404" /><Relationship Type="http://schemas.openxmlformats.org/officeDocument/2006/relationships/slide" Target="/ppt/slides/slide8.xml" Id="R8515fbebc248415a" /><Relationship Type="http://schemas.openxmlformats.org/officeDocument/2006/relationships/slide" Target="/ppt/slides/slide9.xml" Id="R6214cf41f0db4258" /><Relationship Type="http://schemas.openxmlformats.org/officeDocument/2006/relationships/slide" Target="/ppt/slides/slide10.xml" Id="R02c116b85b264194" /><Relationship Type="http://schemas.openxmlformats.org/officeDocument/2006/relationships/slide" Target="/ppt/slides/slide11.xml" Id="R0379e9b717b84d86" /><Relationship Type="http://schemas.openxmlformats.org/officeDocument/2006/relationships/slide" Target="/ppt/slides/slide12.xml" Id="R60e023d7ed9c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7384c370b2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a698772be4159" /><Relationship Type="http://schemas.openxmlformats.org/officeDocument/2006/relationships/notesMaster" Target="/ppt/notesMasters/notesMaster1.xml" Id="R9e38f22a7351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59890e6f444d10" /><Relationship Type="http://schemas.openxmlformats.org/officeDocument/2006/relationships/notesMaster" Target="/ppt/notesMasters/notesMaster1.xml" Id="R23ecbd15bf1d44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ec824c7b3d43f5" /><Relationship Type="http://schemas.openxmlformats.org/officeDocument/2006/relationships/notesMaster" Target="/ppt/notesMasters/notesMaster1.xml" Id="R53d881c5c70145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f823325cf44e40" /><Relationship Type="http://schemas.openxmlformats.org/officeDocument/2006/relationships/notesMaster" Target="/ppt/notesMasters/notesMaster1.xml" Id="R19a93c7968c0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4c8f33449a43d4" /><Relationship Type="http://schemas.openxmlformats.org/officeDocument/2006/relationships/notesMaster" Target="/ppt/notesMasters/notesMaster1.xml" Id="Radce9ad70a2646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c35ac3d62b4a3c" /><Relationship Type="http://schemas.openxmlformats.org/officeDocument/2006/relationships/notesMaster" Target="/ppt/notesMasters/notesMaster1.xml" Id="R722b75f779b543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6378790bad4d25" /><Relationship Type="http://schemas.openxmlformats.org/officeDocument/2006/relationships/notesMaster" Target="/ppt/notesMasters/notesMaster1.xml" Id="Rb56b96cd009c41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eee296a62e40a1" /><Relationship Type="http://schemas.openxmlformats.org/officeDocument/2006/relationships/notesMaster" Target="/ppt/notesMasters/notesMaster1.xml" Id="R1149d331b89744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0571bf1afa4e42" /><Relationship Type="http://schemas.openxmlformats.org/officeDocument/2006/relationships/notesMaster" Target="/ppt/notesMasters/notesMaster1.xml" Id="R14f2d51e4af746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bace1f60b4b66" /><Relationship Type="http://schemas.openxmlformats.org/officeDocument/2006/relationships/notesMaster" Target="/ppt/notesMasters/notesMaster1.xml" Id="R45de3b4d3d7644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c6628d587a411b" /><Relationship Type="http://schemas.openxmlformats.org/officeDocument/2006/relationships/notesMaster" Target="/ppt/notesMasters/notesMaster1.xml" Id="Rebb945d9bc9d46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f0777dc7c4f9d" /><Relationship Type="http://schemas.openxmlformats.org/officeDocument/2006/relationships/notesMaster" Target="/ppt/notesMasters/notesMaster1.xml" Id="Re1df331b4b6e49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presentation for the YouTube Social Media Engagement Analytics Dashboard. Project member: Amrit Kaur Gahir.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YouTube Data API playlistItems.list reference, FastAPI documentation, Pydantic model documentation, and Microsoft Power BI star schema guidance.</a:t>
            </a:r>
          </a:p>
          <a:p xmlns:a="http://schemas.openxmlformats.org/drawingml/2006/main">
            <a:r>
              <a:t>https://developers.google.com/youtube/v3/docs/playlistItems/list</a:t>
            </a:r>
          </a:p>
          <a:p xmlns:a="http://schemas.openxmlformats.org/drawingml/2006/main">
            <a:r>
              <a:t>https://fastapi.tiangolo.com/features/</a:t>
            </a:r>
          </a:p>
          <a:p xmlns:a="http://schemas.openxmlformats.org/drawingml/2006/main">
            <a:r>
              <a:t>https://docs.pydantic.dev/latest/concepts/models/</a:t>
            </a:r>
          </a:p>
          <a:p xmlns:a="http://schemas.openxmlformats.org/drawingml/2006/main">
            <a:r>
              <a:t>https://learn.microsoft.com/power-bi/guidance/star-schema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is based on the project design and actual implementation. Public YouTube API data flows through validation and collection services into SQLite. Analytics and CSV exports feed Power BI.</a:t>
            </a:r>
          </a:p>
          <a:p xmlns:a="http://schemas.openxmlformats.org/drawingml/2006/main">
            <a:r>
              <a:t>https://developers.google.com/youtube/v3/docs/playlistItems/list</a:t>
            </a:r>
          </a:p>
          <a:p xmlns:a="http://schemas.openxmlformats.org/drawingml/2006/main">
            <a:r>
              <a:t>Project architecture: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Collection requests are validated, the uploads playlist is paginated, video details are requested in batches, records are normalized, and each run creates timestamped metric observations.</a:t>
            </a:r>
          </a:p>
          <a:p xmlns:a="http://schemas.openxmlformats.org/drawingml/2006/main">
            <a:r>
              <a:t>Project source: app/services/collection_service.py and app/services/export_service.py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collection request schema constrains channel handles and video limits. Analytics only calculates engagement when views, likes, and comments are available.</a:t>
            </a:r>
          </a:p>
          <a:p xmlns:a="http://schemas.openxmlformats.org/drawingml/2006/main">
            <a:r>
              <a:t>Project source: app/schemas/video.py, app/services/analytics_service.py, app/services/collection_service.py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image is the screenshot supplied for this project. Displayed metrics and charts are reproduced as a reference view; refreshed values depend on the current stored data and Power BI model.</a:t>
            </a:r>
          </a:p>
          <a:p xmlns:a="http://schemas.openxmlformats.org/drawingml/2006/main">
            <a:r>
              <a:t>Power BI model guidance: https://learn.microsoft.com/power-bi/guidance/star-schema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were accessed for the system design and API implementation.</a:t>
            </a:r>
          </a:p>
          <a:p xmlns:a="http://schemas.openxmlformats.org/drawingml/2006/main">
            <a:r>
              <a:t>YouTube Data API v3, playlistItems.list: https://developers.google.com/youtube/v3/docs/playlistItems/list</a:t>
            </a:r>
          </a:p>
          <a:p xmlns:a="http://schemas.openxmlformats.org/drawingml/2006/main">
            <a:r>
              <a:t>FastAPI features and OpenAPI: https://fastapi.tiangolo.com/features/</a:t>
            </a:r>
          </a:p>
          <a:p xmlns:a="http://schemas.openxmlformats.org/drawingml/2006/main">
            <a:r>
              <a:t>Pydantic models: https://docs.pydantic.dev/latest/concepts/models/</a:t>
            </a:r>
          </a:p>
          <a:p xmlns:a="http://schemas.openxmlformats.org/drawingml/2006/main">
            <a:r>
              <a:t>SQLAlchemy SQLite dialect: https://docs.sqlalchemy.org/en/20/dialects/sqlite.html</a:t>
            </a:r>
          </a:p>
          <a:p xmlns:a="http://schemas.openxmlformats.org/drawingml/2006/main">
            <a:r>
              <a:t>Power BI star schema: https://learn.microsoft.com/power-bi/guidance/star-schema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211f9235a4e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e4f50a0e943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4249348a846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f1f8d3d3347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4a75597864a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2503a081049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17D9FB-9B34-4D11-80D3-8D492F3530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A29DC3-6004-460F-B352-2A4E4F08FA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3F3965-B620-412D-8335-46BCAF5A25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98A565-1DD8-4029-9E31-E032FFB31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ED7D79-E15B-420F-B191-7DDC2BCFD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230E8F-3557-4847-9A86-24BBD4FB4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AC9F8A-FBB2-4108-92B5-ABBDC9782D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FCA893-2B36-44A1-83F2-FA1809D8A7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2D0B7A-F47A-4895-9F70-59A788B17F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C00DAA-97B9-4624-BA88-C53DE68525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7b3a00cef943b7" /><Relationship Type="http://schemas.openxmlformats.org/officeDocument/2006/relationships/slideLayout" Target="/ppt/slideLayouts/slideLayout1.xml" Id="Rd065032b446f4382" /><Relationship Type="http://schemas.openxmlformats.org/officeDocument/2006/relationships/slideLayout" Target="/ppt/slideLayouts/slideLayout2.xml" Id="R0a58b1590d714b9c" /><Relationship Type="http://schemas.openxmlformats.org/officeDocument/2006/relationships/slideLayout" Target="/ppt/slideLayouts/slideLayout3.xml" Id="Rd626e6b49868416a" /><Relationship Type="http://schemas.openxmlformats.org/officeDocument/2006/relationships/slideLayout" Target="/ppt/slideLayouts/slideLayout4.xml" Id="Rdeb3912704e04506" /><Relationship Type="http://schemas.openxmlformats.org/officeDocument/2006/relationships/slideLayout" Target="/ppt/slideLayouts/slideLayout5.xml" Id="R8a265cab3f8b41de" /><Relationship Type="http://schemas.openxmlformats.org/officeDocument/2006/relationships/slideLayout" Target="/ppt/slideLayouts/slideLayout6.xml" Id="Rd1edb713658b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65032b446f4382"/>
    <p:sldLayoutId xmlns:r="http://schemas.openxmlformats.org/officeDocument/2006/relationships" id="2147483650" r:id="R0a58b1590d714b9c"/>
    <p:sldLayoutId xmlns:r="http://schemas.openxmlformats.org/officeDocument/2006/relationships" id="2147483651" r:id="Rd626e6b49868416a"/>
    <p:sldLayoutId xmlns:r="http://schemas.openxmlformats.org/officeDocument/2006/relationships" id="2147483652" r:id="Rdeb3912704e04506"/>
    <p:sldLayoutId xmlns:r="http://schemas.openxmlformats.org/officeDocument/2006/relationships" id="2147483653" r:id="R8a265cab3f8b41de"/>
    <p:sldLayoutId xmlns:r="http://schemas.openxmlformats.org/officeDocument/2006/relationships" id="2147483654" r:id="Rd1edb713658b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8713e5f834ca7" /><Relationship Type="http://schemas.openxmlformats.org/officeDocument/2006/relationships/image" Target="/ppt/media/image.png" Id="Rb8dcb4abbce04300" /><Relationship Type="http://schemas.openxmlformats.org/officeDocument/2006/relationships/notesSlide" Target="/ppt/notesSlides/notesSlide1.xml" Id="Rceff7cf9baed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aaea5168b42ad" /><Relationship Type="http://schemas.openxmlformats.org/officeDocument/2006/relationships/notesSlide" Target="/ppt/notesSlides/notesSlide2.xml" Id="R0e84285355b149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00288eee14ad6" /><Relationship Type="http://schemas.openxmlformats.org/officeDocument/2006/relationships/notesSlide" Target="/ppt/notesSlides/notesSlide3.xml" Id="Rac640f7cd80840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63ef1206d4a1d" /><Relationship Type="http://schemas.openxmlformats.org/officeDocument/2006/relationships/notesSlide" Target="/ppt/notesSlides/notesSlide4.xml" Id="Rffa137f776cb4c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bad8f577b4218" /><Relationship Type="http://schemas.openxmlformats.org/officeDocument/2006/relationships/notesSlide" Target="/ppt/notesSlides/notesSlide5.xml" Id="Rb43bc1960d7e40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4042985364524" /><Relationship Type="http://schemas.openxmlformats.org/officeDocument/2006/relationships/notesSlide" Target="/ppt/notesSlides/notesSlide6.xml" Id="Re4f4ce95c87342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4e582589c41ba" /><Relationship Type="http://schemas.openxmlformats.org/officeDocument/2006/relationships/notesSlide" Target="/ppt/notesSlides/notesSlide7.xml" Id="R03c8200d3b2443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d1e36b3e14cdc" /><Relationship Type="http://schemas.openxmlformats.org/officeDocument/2006/relationships/notesSlide" Target="/ppt/notesSlides/notesSlide8.xml" Id="R7f9ae981db1045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093ab20434f75" /><Relationship Type="http://schemas.openxmlformats.org/officeDocument/2006/relationships/image" Target="/ppt/media/image2.png" Id="R2cd2c934f0034a39" /><Relationship Type="http://schemas.openxmlformats.org/officeDocument/2006/relationships/notesSlide" Target="/ppt/notesSlides/notesSlide9.xml" Id="R5504df2e43794b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c371324444e67" /><Relationship Type="http://schemas.openxmlformats.org/officeDocument/2006/relationships/notesSlide" Target="/ppt/notesSlides/notesSlide10.xml" Id="R0aa755862fcb4d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cf3b86d4542d6" /><Relationship Type="http://schemas.openxmlformats.org/officeDocument/2006/relationships/notesSlide" Target="/ppt/notesSlides/notesSlide11.xml" Id="R6f14009c7dfb4b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e1fa46f454bd0" /><Relationship Type="http://schemas.openxmlformats.org/officeDocument/2006/relationships/notesSlide" Target="/ppt/notesSlides/notesSlide12.xml" Id="R95d9232c63dd48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79905-540F-45BB-864F-547E6EE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01965-E0F3-4667-B865-B25865A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FC4A2-CD38-4E67-BAF7-3EDC33BEC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cb4abbce04300"/>
          <a:stretch xmlns:a="http://schemas.openxmlformats.org/drawingml/2006/main"/>
        </p:blipFill>
        <p:spPr>
          <a:xfrm xmlns:a="http://schemas.openxmlformats.org/drawingml/2006/main">
            <a:off x="228600" y="420645"/>
            <a:ext cx="1066800" cy="72081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88103-C3A8-49D0-B79A-96240290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2222"/>
          </a:bodyPr>
          <a:lstStyle xmlns:a="http://schemas.openxmlformats.org/drawingml/2006/main">
            <a:def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ST. VINCENT PALLOTTI COLLEGE OF ENGINEERING AND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6A3F0-1C78-4FB8-824D-97129B24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DEPARTMENT OF INFORMATION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507D2-77AF-4C3A-90CE-65701BC6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6685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Academic Year 2026–27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1B3CA-6BAD-4E66-A8BF-4812E40F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7222"/>
          </a:bodyPr>
          <a:lstStyle xmlns:a="http://schemas.openxmlformats.org/drawingml/2006/main">
            <a:def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Introductory Seminar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8D9EC-CB28-41D4-972A-054A8B9D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YouTube Social Media Engagement</a:t>
            </a:r>
          </a:p>
          <a:p xmlns:a="http://schemas.openxmlformats.org/drawingml/2006/main">
            <a:pPr algn="ctr">
              <a:defRPr sz="27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Analytics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80F55-A081-4946-85EE-C30D88A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2915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Project Member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ECA04-1816-474A-89F3-2B7A6676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Amrit Kaur Gahir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76B0B-C8EC-4B21-ADE6-9E8E6FCF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B.E. Information Technology, Semester VI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87E14-036B-45F2-ABD1-DEFE6A66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291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Project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DB567-0B90-4E55-9E6D-E697763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101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Public YouTube data collection, analytics, and Power BI reporting</a:t>
            </a:r>
          </a:p>
        </p:txBody>
      </p:sp>
    </p:spTree>
    <p:extLst>
      <p:ext uri="{BB962C8B-B14F-4D97-AF65-F5344CB8AC3E}">
        <p14:creationId xmlns:p14="http://schemas.microsoft.com/office/powerpoint/2010/main" val="31875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BAC08-233F-4E40-9710-638027B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Table of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019A9-B164-4EAB-BAD9-79DAE695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B9E79-1FA6-4C26-AC15-88CB3D21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C7E54-402F-48CE-86F4-932D50DC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573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927E8-078C-4CDC-B7CE-92ADD2A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573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Introduction and problem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4CCA3-9C9F-4E93-9F31-FD1491D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FE025-C45F-4828-B90E-17BBC140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811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Technical literature survey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C731E-3A9C-49EF-9F18-1FC6D836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FA044-D68D-44D5-9FB5-FC5CD1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050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Existing and proposed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5319D-8138-4016-A522-D1AB125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2FCD8-204E-44D8-8ACD-5C782E11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2892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F4D16-5A59-4457-BF2C-F905509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1DCBA-90CA-47E1-8CDE-BE18CBF8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Project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81D18-58D5-42D8-86D5-D75B3F8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CDE8E-E35D-4E96-BE18-5F5DF617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766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Implementation and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3A0C-9FB3-442F-BF02-8AF79D2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377CC-5E27-40CC-A506-3A4BC93B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Dashboard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3B1BC-50D7-46F3-802C-A3FC766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244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3BCDE-242C-4BF4-AF6D-22969D87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Hardware and software requirements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BE11D-2D96-4456-A207-1FEC44F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2593"/>
          </a:bodyPr>
          <a:lstStyle xmlns:a="http://schemas.openxmlformats.org/drawingml/2006/main">
            <a:def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A39DC-36CB-438E-B295-747916C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483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6154"/>
          </a:bodyPr>
          <a:lstStyle xmlns:a="http://schemas.openxmlformats.org/drawingml/2006/main">
            <a:def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856351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CB1AD-8377-498D-937F-9D1592F5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1. Problem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62E65-56FF-4AA5-B44B-B2A8BC9F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682D-F0F4-428E-9C75-ECF0FB9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F1FDA-F317-4143-95B1-D26E4EED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D6E2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CEAEC-207C-492A-8FCA-793B34D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049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3877F-AAB1-4BE6-8CA2-9B42054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04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CA163-5929-46B3-8F0D-36869FE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47800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Scattered public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71031-F85B-496E-BB5B-C8D7773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38325"/>
            <a:ext cx="3895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Video metadata and public counts need to be collected from separate API resources.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47DEE-E6E7-40E7-9041-5152BA34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7635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D6E2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0E9E-6EC9-4D06-A6DF-781AF53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049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18722-D512-4D80-B57E-26048424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04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F46BC-F301-4275-BE50-577E4B0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447800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Manual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6137F-758A-41E4-A74E-BAE335A6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38325"/>
            <a:ext cx="3895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Repeatedly checking many videos makes comparisons slow and inconsistent.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F9570-F44F-448D-AC04-8912EACE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D6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B4D96-9416-49BC-9917-E8B22234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52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F9274-4D71-493C-B7FE-A368EE1B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528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650B5-81DC-49C5-9536-932BB601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95625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No observation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841E4-FCA5-4888-BD5B-3F6FCA6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86150"/>
            <a:ext cx="3895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single export cannot show how a video’s public counts changed over 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F1EAE-A791-4501-9AD2-DD4558C9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24175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D6E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98787-32C8-457D-BD9E-3A083E2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0502E-23B0-4119-9339-BEFFDCE5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260F7-9098-4DBE-9B08-2B32B22D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95625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Missing statistics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0BE21-E369-4F09-89C5-3C2D0DC0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86150"/>
            <a:ext cx="3895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Likes or comments may be unavailable and must not be mistaken for zero.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CCDFA-80E9-4A5F-B9AC-E78F2BFD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D6E2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20440-0309-4C9D-9D8D-5A4CEF4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00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9335D-4FD9-411E-95FA-60FB240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006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33146-D034-4D3D-A2E9-64CF5C8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43450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Power BI key errors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C1BC5-C458-49C0-B917-74378DA4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33975"/>
            <a:ext cx="3895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Snapshot tables repeat video IDs, so they cannot be used as unique lookup tables.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25950-9B32-4557-BB16-C99E1062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72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D6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01BE8-FCCD-405C-B3EF-72B511A7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9ACF90-06A7-4D9D-B613-18E4C17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1902F1-DD66-4CAB-90D4-921D12A6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743450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Need for a repeatable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778E71-F5CD-48A1-B13C-1CE9F611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33975"/>
            <a:ext cx="3895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Collection, validation, storage, analytics, and exports need one documented workflow.</a:t>
            </a:r>
          </a:p>
        </p:txBody>
      </p:sp>
    </p:spTree>
    <p:extLst>
      <p:ext uri="{BB962C8B-B14F-4D97-AF65-F5344CB8AC3E}">
        <p14:creationId xmlns:p14="http://schemas.microsoft.com/office/powerpoint/2010/main" val="1803757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7489A-16D3-4CC4-8C83-BA7E6DBD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2. Technical Literature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C047A-8511-4C10-A48F-96B4AB59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6F4FF-A81D-498F-8080-30D6D0DF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F2015-A9DB-4713-999B-C4A7394145D2}"/>
              </a:ext>
            </a:extLst>
          </p:cNvPr>
          <p:cNvGraphicFramePr/>
          <p:nvPr/>
        </p:nvGraphicFramePr>
        <p:xfrm>
          <a:off xmlns:a="http://schemas.openxmlformats.org/drawingml/2006/main" x="495300" y="1276350"/>
          <a:ext xmlns:a="http://schemas.openxmlformats.org/drawingml/2006/main" cx="11201400" cy="4305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3476625"/>
                <a:gridCol w="5343525"/>
              </a:tblGrid>
              <a:tr h="86106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 / technology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T w="11906">
                      <a:solidFill>
                        <a:srgbClr val="FFFFFF"/>
                      </a:solidFill>
                      <a:prstDash val="solid"/>
                    </a:lnT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5A9BD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T w="11906">
                      <a:solidFill>
                        <a:srgbClr val="FFFFFF"/>
                      </a:solidFill>
                      <a:prstDash val="solid"/>
                    </a:lnT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5A9BD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implication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T w="11906">
                      <a:solidFill>
                        <a:srgbClr val="FFFFFF"/>
                      </a:solidFill>
                      <a:prstDash val="solid"/>
                    </a:lnT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5A9BD5"/>
                    </a:solidFill>
                  </a:tcPr>
                </a:tc>
              </a:tr>
              <a:tr h="86106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YouTube Data API v3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Channel uploads and video resources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Use uploads playlist pagination and batch video-detail requests.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86106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FastAPI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HTTP APIs and OpenAPI documentation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Expose versioned routes with interactive Swagger UI and ReDoc.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</a:tr>
              <a:tr h="86106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Pydantic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Typed data models and validation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Reject malformed handles and out-of-range collection limits.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86106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Power BI modeling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Dimensions, facts, and relationships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Use Videos as the unique lookup table and snapshots as fact tables.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5FAED-8D6F-44CC-8589-AC2AF061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Design takeaway: validate API inputs, preserve snapshot grain, and keep the Power BI relationship keys unique.</a:t>
            </a:r>
          </a:p>
        </p:txBody>
      </p:sp>
    </p:spTree>
    <p:extLst>
      <p:ext uri="{BB962C8B-B14F-4D97-AF65-F5344CB8AC3E}">
        <p14:creationId xmlns:p14="http://schemas.microsoft.com/office/powerpoint/2010/main" val="898750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C8C9D-8B1E-47F3-910E-2108ED7F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3. Existing Systems vs. Proposed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2E48A-AE40-4CD6-AFAC-4C2D17A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14E6C-DB3E-4334-9BC6-18F28DD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0EF07-4F0B-49C2-AE28-7957EDB9AAEE}"/>
              </a:ext>
            </a:extLst>
          </p:cNvPr>
          <p:cNvGraphicFramePr/>
          <p:nvPr/>
        </p:nvGraphicFramePr>
        <p:xfrm>
          <a:off xmlns:a="http://schemas.openxmlformats.org/drawingml/2006/main" x="495300" y="1200150"/>
          <a:ext xmlns:a="http://schemas.openxmlformats.org/drawingml/2006/main" cx="11201400" cy="48958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381500"/>
                <a:gridCol w="4724400"/>
              </a:tblGrid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T w="11906">
                      <a:solidFill>
                        <a:srgbClr val="FFFFFF"/>
                      </a:solidFill>
                      <a:prstDash val="solid"/>
                    </a:lnT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5A9BD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Existing approach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T w="11906">
                      <a:solidFill>
                        <a:srgbClr val="FFFFFF"/>
                      </a:solidFill>
                      <a:prstDash val="solid"/>
                    </a:lnT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5A9BD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project system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T w="11906">
                      <a:solidFill>
                        <a:srgbClr val="FFFFFF"/>
                      </a:solidFill>
                      <a:prstDash val="solid"/>
                    </a:lnT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5A9BD5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Data collection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Manual browsing or separate scripts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YouTube Data API v3 with pagination and batching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Ad hoc checks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Pydantic request constraints and normalized records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Historical tracking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One-time values or overwritten files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Timestamped metric snapshots in SQLite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Missing statistics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Often treated as blank or zero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Unavailable public counts remain null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Analytics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Manual spreadsheet calculations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Python services calculate rankings and rates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Power BI model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Duplicate IDs can be assigned as keys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Unique video dimension relates to snapshot facts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7"/>
                    </a:solidFill>
                  </a:tcPr>
                </a:tc>
              </a:tr>
              <a:tr h="611981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Data handoff</a:t>
                      </a:r>
                    </a:p>
                  </a:txBody>
                  <a:tcPr marL="91440" marR="91440" marT="45720" marB="45720" anchor="ctr">
                    <a:lnL w="11906">
                      <a:solidFill>
                        <a:srgbClr val="FFFFFF"/>
                      </a:solidFill>
                      <a:prstDash val="solid"/>
                    </a:lnL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Manual copying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CSV exports generated from stored records</a:t>
                      </a:r>
                    </a:p>
                  </a:txBody>
                  <a:tcPr marL="91440" marR="91440" marT="45720" marB="45720" anchor="ctr">
                    <a:lnR w="11906">
                      <a:solidFill>
                        <a:srgbClr val="FFFFFF"/>
                      </a:solidFill>
                      <a:prstDash val="solid"/>
                    </a:lnR>
                    <a:lnB w="11906">
                      <a:solidFill>
                        <a:srgbClr val="FFFFFF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61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689E52-8ACC-498F-9780-CCFE58D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4. Proposed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35F03-0968-4F40-950E-7A0D2A2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8F96C-0B88-4116-AD86-AA20D017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09FA3-1FC8-4251-A995-F5D24B4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1200"/>
            <a:ext cx="1657350" cy="1714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F9C51-45BF-4F03-9761-8F10DBF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7460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MrBeast</a:t>
            </a:r>
          </a:p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public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620AF-A084-4A9E-A863-DB688F6D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76500"/>
            <a:ext cx="140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Channel handle and</a:t>
            </a:r>
          </a:p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public statistics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9F9D8-2341-4D4A-A8D1-9BA15920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5D9D7-0D85-4B63-B535-70CA551F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81200"/>
            <a:ext cx="1657350" cy="1714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8DA30-A33E-4FE5-9A41-01E92C17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574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7460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YouTube</a:t>
            </a:r>
          </a:p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Data API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3913D-2B09-453C-B121-2761014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40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Uploads pagination</a:t>
            </a:r>
          </a:p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and video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C4184-EF77-4B4F-BDF6-0918DA2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EF8FC-4B2B-48B7-8288-511B984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1657350" cy="1714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CEBFA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D8BB1-19A4-453F-B5D2-8E1FE04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7460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1E786-A723-4B40-830C-BBE493A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76500"/>
            <a:ext cx="140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Validate, normalize</a:t>
            </a:r>
          </a:p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and calculate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61CA1-FBBE-4F87-B587-B307025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4602E-A30C-4E72-9DC1-6C9AEC64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1657350" cy="1714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EBD4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8661B-D098-42F2-BB25-35693FA6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7460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AABB0-36D3-4B30-B2D8-C229FF18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140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Videos and dated</a:t>
            </a:r>
          </a:p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metric snapshots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AC999-ECA1-4D3C-91A0-F91B97C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F7E0E-820F-4478-AA3D-4D98FB5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657350" cy="1714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BA0D0-5E53-43F6-B3D0-05A38DA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7460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CSV</a:t>
            </a:r>
          </a:p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A42C2-FA1F-43D0-9A3C-46CCF4CF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76500"/>
            <a:ext cx="140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Stored records</a:t>
            </a:r>
          </a:p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prepared for 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36945-48D4-4115-8049-D11C8E1B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241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F48A76-4000-4F78-86EA-738E7C6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81200"/>
            <a:ext cx="1657350" cy="1714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F0EA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BBBC2-321E-4057-AC02-47ED1E05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574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67460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Power BI</a:t>
            </a:r>
          </a:p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2B360-5EE9-4567-B6BF-A6CB3B4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76500"/>
            <a:ext cx="140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KPIs, trends, rankings</a:t>
            </a:r>
          </a:p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and comparisons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AE9A9-DCAF-41A5-B5B4-CEE876FE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64"/>
          </a:bodyPr>
          <a:lstStyle xmlns:a="http://schemas.openxmlformats.org/drawingml/2006/main">
            <a:def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Analytics are calculated from stored observations. Growth needs at least two collection times for the same video.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CE541-CF31-48F0-84DA-B85CF083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Scope: public metadata and statistics from the Data API. Private YouTube Studio measures such as watch time and impressions are outside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233137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0D4F62-7580-4257-95CA-FA5BACD0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5. Project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1ADF9-A91A-44AD-8310-35D0CA1D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61489-106A-428C-A58A-8CC216D2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2D04E-9FB2-4CE2-8B22-4DB50968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24050"/>
            <a:ext cx="1638300" cy="2076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40CD2-6195-470D-AEAC-E9CCF3D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1.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F7A80-839F-4C04-9E2F-7FDF735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39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Choose channel handle</a:t>
            </a:r>
          </a:p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and video limit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9E1B0-DE41-4E89-9F42-3D616A3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2952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6A2EE-5AEB-4EBF-9061-FADF43E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24050"/>
            <a:ext cx="1638300" cy="2076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19224-968C-448F-9055-9F5BEB10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002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2.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D92ED-C9DB-43CF-80F2-5E1BFA6A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19350"/>
            <a:ext cx="139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Check request fields</a:t>
            </a:r>
          </a:p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and API credentials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D912E-11E5-4A35-B063-A7D804D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00350"/>
            <a:ext cx="2952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76F60-8DC1-4FED-850D-8BD7D579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24050"/>
            <a:ext cx="1638300" cy="2076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CEBFA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67CC9-9419-4B6A-BF9B-811DA4A9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3. Collect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9FAFD-4739-43B5-B6A4-F91DD9B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139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Resolve channel and</a:t>
            </a:r>
          </a:p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read uploads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7A1DB-0A22-480E-A00B-F69E6EF7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952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E22E7-13A5-4331-BF30-A2C7152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1638300" cy="2076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7EBD4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506BF-6D72-433A-93AB-9ADDD7D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4. 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AD667-F83B-4D6A-B0F6-3AAF673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19350"/>
            <a:ext cx="139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Parse metadata and</a:t>
            </a:r>
          </a:p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nullable statistics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A2534-C91D-47DC-BBAE-F230C5E8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0350"/>
            <a:ext cx="2952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7CDA1-3E8A-4711-86DA-49B89E4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24050"/>
            <a:ext cx="1638300" cy="2076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DF0EA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A6090-7A75-4D81-B298-7CAD6C7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002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5. Persist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20594-7AD7-4728-BE92-A0379C8A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139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Upsert video and</a:t>
            </a:r>
          </a:p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append a snapshot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94213-A50F-4489-83A3-B52921D4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00350"/>
            <a:ext cx="2952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2396A-D065-4182-9834-C279B9BB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1638300" cy="2076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5A9B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68A0C-49F9-4C99-9B65-8CF741A3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6. Analyze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16942-AFF9-4D74-9CD0-63B536F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419350"/>
            <a:ext cx="139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Calculate metrics and</a:t>
            </a:r>
          </a:p>
          <a:p xmlns:a="http://schemas.openxmlformats.org/drawingml/2006/main">
            <a:pPr algn="ctr">
              <a:defRPr sz="135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export CSV datasets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D5626-2441-444E-AD45-F26ADA4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971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3335">
            <a:solidFill>
              <a:srgbClr val="D6E2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20B9C-4215-4855-9013-B96ADE3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3392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Power BI consumes exports from the stored database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01CA1-5831-4869-A5AE-DB15E7A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76825"/>
            <a:ext cx="885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Repeated video IDs belong in observation tables; the Videos table provides the unique key.</a:t>
            </a:r>
          </a:p>
        </p:txBody>
      </p:sp>
    </p:spTree>
    <p:extLst>
      <p:ext uri="{BB962C8B-B14F-4D97-AF65-F5344CB8AC3E}">
        <p14:creationId xmlns:p14="http://schemas.microsoft.com/office/powerpoint/2010/main" val="52307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EA891-6EB3-44E4-901B-4047BD9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6. System Implementation and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28EA8-0631-41B7-916F-7CA35285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BC487-A7DB-4ABE-B4F4-D619BBF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7CB72-A0DD-4755-B43D-889E25D3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Engagement rate calculation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721BC-D5BA-410E-A41F-82E20B35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054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30352-9AEC-4EC6-BC99-C1190691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4733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if views and views &gt; 0 and likes is not None</a:t>
            </a:r>
          </a:p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  and comments is not None:</a:t>
            </a:r>
          </a:p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   rate = 100 * (likes + comments) / views</a:t>
            </a:r>
          </a:p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else:</a:t>
            </a:r>
          </a:p>
          <a:p xmlns:a="http://schemas.openxmlformats.org/drawingml/2006/main">
            <a:pPr algn="l">
              <a:defRPr sz="135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   rate = None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C36B0-7F45-48B3-A531-20525A7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Missing counts remain unknown. The service excludes them from calculations that require those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DEC5E-0EFF-4EA1-BCE9-04AF234C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19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Implemented API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C3A54-3C23-4667-9F74-CCBA98F4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3BD1D-30D9-490E-B7F6-0D0612BC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430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Health, channel, and paginated video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B95A1-EDC3-483D-B1E8-C09C981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47925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B8C83-90A6-4988-AD93-582A7EB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Collection with YouTube API error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D9326-4346-4BBE-B919-404A6A6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02E0A-AEFF-4F6B-9A34-7A82828F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337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Overview, top videos, publishing patterns, and 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16793-11B0-4A84-8C09-F48F918C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575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550E5-4885-43F8-B4B2-C897C0F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CSV export for videos, snapshots, engagement, and channel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26AE8-7B9F-4E32-A4CC-1820EEC3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CD99B-E3E7-4C7B-9D38-F7985B6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243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Swagger UI, ReDoc, and OpenAPI schema</a:t>
            </a:r>
          </a:p>
        </p:txBody>
      </p:sp>
    </p:spTree>
    <p:extLst>
      <p:ext uri="{BB962C8B-B14F-4D97-AF65-F5344CB8AC3E}">
        <p14:creationId xmlns:p14="http://schemas.microsoft.com/office/powerpoint/2010/main" val="1803352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3507A-22C8-4975-AFBE-D170896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7. Dashboard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ADAD6-131C-4FED-B000-88FBCB4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461C5-2F04-494D-BB77-783F3754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E536D-BFE7-4996-9CDA-F733C7BEC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2c934f0034a39"/>
          <a:stretch xmlns:a="http://schemas.openxmlformats.org/drawingml/2006/main"/>
        </p:blipFill>
        <p:spPr>
          <a:xfrm xmlns:a="http://schemas.openxmlformats.org/drawingml/2006/main">
            <a:off x="400050" y="1278261"/>
            <a:ext cx="8096250" cy="451102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85FC0-1478-4C09-BD4D-4E85C1B0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Dashboard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D831C-A011-45EF-952B-A7ABAE1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71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3E633-65B5-426C-A94E-99E1D4E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71675"/>
            <a:ext cx="235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2386"/>
          </a:bodyPr>
          <a:lstStyle xmlns:a="http://schemas.openxmlformats.org/drawingml/2006/main">
            <a:def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Channel and engagement KPI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A028B-D7C6-4489-9B04-A004FAB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73EB7-0651-4FD4-B7A6-E415F12C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235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Views by publication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CF21D-4DF3-4E34-8614-F7B821AB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AC1DF-7E31-42BF-8AF9-FEC27B3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0425"/>
            <a:ext cx="235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10 videos by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BB582-72E1-4699-AC35-B15D3C28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71F80-3B07-4AE2-A464-494BC76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14800"/>
            <a:ext cx="235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Engagement rate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6D1D4-9759-42B9-9F7D-406B352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291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00461-3965-4827-8075-C6591CA5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29175"/>
            <a:ext cx="235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70825"/>
          </a:bodyPr>
          <a:lstStyle xmlns:a="http://schemas.openxmlformats.org/drawingml/2006/main">
            <a:def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Year comparison and interaction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E557A-A53E-4B00-99D8-55C6C551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95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Screenshot values are the supplied dashboard view.</a:t>
            </a:r>
          </a:p>
        </p:txBody>
      </p:sp>
    </p:spTree>
    <p:extLst>
      <p:ext uri="{BB962C8B-B14F-4D97-AF65-F5344CB8AC3E}">
        <p14:creationId xmlns:p14="http://schemas.microsoft.com/office/powerpoint/2010/main" val="652467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4C64A-5C97-4A86-B6BA-6E9FD61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8. Hardware and Software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1282E-05CF-4F05-A467-BCF3BF1C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F7C35-1F13-4404-A2D2-5BC4503B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AF4E7-5463-4872-A0F9-7E5C03E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Hardware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054FE-C387-43BA-B322-865BD736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8587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Software Requirement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6C4B5-A3A1-4B4E-8637-71F66A3A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64EB-50BA-4372-92EC-35F1338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977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Windows or Linux computer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8FB00-FF75-4EA0-873F-6B75201B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DB696-9CA6-42B5-85C8-81CB9D0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Intel i5 or equivalent processor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B7C74-6D12-49FE-AC4D-3D81F64D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7F40D-8844-42D7-8B2A-2E68418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8 GB RAM recommended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AA9A0-06BC-42B8-8C37-8DFA6BE0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E5B6F-390F-4BE8-9D17-4F4E0760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10 GB available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2B9CE-16E4-4AE5-AD48-524ECB0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0EDF0-91A4-422D-B428-DDA71F0B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957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Internet connection for live API calls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145D9-5DDA-4C0D-824B-2243CD6B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68E4B-F843-4195-B982-D32A711E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72025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GPU not required for this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0C10A-0830-41AD-B9FC-4B979B9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EEFF5-B889-4413-B32D-A62C05C8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Python 3 and 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5F295-42CA-4C95-815D-1F7AFD35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563D3-68E3-407B-B024-03DAAE16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Pydantic and SQLAlchemy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AA97D-3123-4763-9A15-DD369EC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283E8-BC8B-41F6-9084-0A74C672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SQLite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1B66C-5808-4F8E-9661-E3C1421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74488-A628-4ED2-82A9-67D3689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6712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YouTube Data API v3 client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1CB04-7E8A-4831-8772-1BB18280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E09F9-F68B-4F48-BFB7-4788F1D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Pandas for data processing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A5B91-813B-479A-BF57-0FA1EE25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8485"/>
          </a:bodyPr>
          <a:lstStyle xmlns:a="http://schemas.openxmlformats.org/drawingml/2006/main">
            <a:def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8A60A-1A53-4B7A-B75E-5C7B0B5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7202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Power BI Desktop and VS Code</a:t>
            </a:r>
          </a:p>
        </p:txBody>
      </p:sp>
    </p:spTree>
    <p:extLst>
      <p:ext uri="{BB962C8B-B14F-4D97-AF65-F5344CB8AC3E}">
        <p14:creationId xmlns:p14="http://schemas.microsoft.com/office/powerpoint/2010/main" val="368180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D3B6F-A0ED-47D5-A5AD-2AB9235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9.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AF5D-EAD2-4BE0-87D2-DA770A96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14260-F4F1-410B-81E9-3AE85936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2C28-3BE7-4478-80FA-08252FE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[1] Google Developers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C9E28-8FD9-4775-8B45-053A6070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57300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YouTube Data API v3, playlistItems.list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DD5D-488D-4E04-B566-256CC7C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56DA5"/>
                </a:solidFill>
                <a:latin typeface="Arial"/>
                <a:ea typeface="Arial"/>
                <a:cs typeface="Arial"/>
              </a:rPr>
              <a:t>developers.google.com/youtube/v3/docs/playlistItems/list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2217F-0CA8-47F9-99C4-690EB268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[2] 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AC523-7B41-4DDF-B714-453EFD1D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Features and interactive API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9609B-4402-4A56-A581-58BFDDC4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050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56DA5"/>
                </a:solidFill>
                <a:latin typeface="Arial"/>
                <a:ea typeface="Arial"/>
                <a:cs typeface="Arial"/>
              </a:rPr>
              <a:t>fastapi.tiangolo.com/features/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BA5A5-0A4E-43ED-95EE-7CF13A08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[3] Pydantic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C1F24-7F14-42CB-B0D2-27C3482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Models and data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1B68D-AF37-448C-ACC7-662F845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56DA5"/>
                </a:solidFill>
                <a:latin typeface="Arial"/>
                <a:ea typeface="Arial"/>
                <a:cs typeface="Arial"/>
              </a:rPr>
              <a:t>docs.pydantic.dev/latest/concepts/models/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5E10A-E874-4741-B26E-C871189B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47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[4] SQLAlchemy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C101F-0107-4254-95C4-1BD9D60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SQLite dialect documentation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D5C9B-4C27-4B07-A1D1-349BE31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56DA5"/>
                </a:solidFill>
                <a:latin typeface="Arial"/>
                <a:ea typeface="Arial"/>
                <a:cs typeface="Arial"/>
              </a:rPr>
              <a:t>docs.sqlalchemy.org/en/20/dialects/sqlite.html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13C42-4D32-4319-86D9-DBD9032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0C2F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70"/>
                </a:solidFill>
                <a:latin typeface="Arial"/>
                <a:ea typeface="Arial"/>
                <a:cs typeface="Arial"/>
              </a:rPr>
              <a:t>[5] Microsoft Learn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3DCDE-DB1A-45B3-8ED9-282D5D1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Understand star schema in Power 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C8BFF-E3D6-4151-954D-C8BEB446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625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56D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56DA5"/>
                </a:solidFill>
                <a:latin typeface="Arial"/>
                <a:ea typeface="Arial"/>
                <a:cs typeface="Arial"/>
              </a:rPr>
              <a:t>learn.microsoft.com/power-bi/guidance/star-schema</a:t>
            </a:r>
          </a:p>
        </p:txBody>
      </p:sp>
    </p:spTree>
    <p:extLst>
      <p:ext uri="{BB962C8B-B14F-4D97-AF65-F5344CB8AC3E}">
        <p14:creationId xmlns:p14="http://schemas.microsoft.com/office/powerpoint/2010/main" val="1257517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C7921-2FA2-40AD-8165-23AA074D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18-10-2026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92EC6-4975-44F6-AC09-CE377634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333"/>
          </a:bodyPr>
          <a:lstStyle xmlns:a="http://schemas.openxmlformats.org/drawingml/2006/main">
            <a:def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190C7-19A7-4FF0-BB05-AB92466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450" b="0" i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615ED-C033-4F99-B866-6FA088EF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0C2F70"/>
                </a:solidFill>
                <a:latin typeface="Times New Roman"/>
                <a:ea typeface="Times New Roman"/>
                <a:cs typeface="Times New Roman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014982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2026-10-18T17:13:57.3860000Z</dcterms:created>
  <dcterms:modified xsi:type="dcterms:W3CDTF">2026-10-18T17:13:57.3860000Z</dcterms:modified>
</coreProperties>
</file>